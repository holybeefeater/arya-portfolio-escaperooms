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28232"/>
            <a:ext cx="11292840" cy="0"/>
          </a:xfrm>
          <a:prstGeom prst="line">
            <a:avLst/>
          </a:prstGeom>
          <a:noFill/>
          <a:ln w="7620">
            <a:solidFill>
              <a:srgbClr val="A31D17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47395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spc="130" kern="0" dirty="0">
                <a:solidFill>
                  <a:srgbClr val="6C15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ADITI ARYA  /  NIFT RAEBARELI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74320"/>
            <a:ext cx="11567160" cy="5989320"/>
          </a:xfrm>
          <a:prstGeom prst="rect">
            <a:avLst/>
          </a:prstGeom>
          <a:solidFill>
            <a:srgbClr val="11100E">
              <a:alpha val="0"/>
            </a:srgbClr>
          </a:solidFill>
          <a:ln w="12700">
            <a:solidFill>
              <a:srgbClr val="D8B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85800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INTERNSHIP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10972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Hats Off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Accessories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5877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study in craft, colour and the journey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material to market.</a:t>
            </a:r>
            <a:endParaRPr lang="en-US" sz="1300" dirty="0"/>
          </a:p>
        </p:txBody>
      </p:sp>
      <p:pic>
        <p:nvPicPr>
          <p:cNvPr id="6" name="Image 0" descr="/private/tmp/internship-pages/pag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02920"/>
            <a:ext cx="43434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502920"/>
            <a:ext cx="4343400" cy="2926080"/>
          </a:xfrm>
          <a:prstGeom prst="rect">
            <a:avLst/>
          </a:prstGeom>
          <a:solidFill>
            <a:srgbClr val="11100E">
              <a:alpha val="48000"/>
            </a:srgbClr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3858768"/>
            <a:ext cx="3931920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ADITI ARYA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4517136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Leather Design  |  Batch 2023–2027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NIFT Raebareli  |  Unique ID BD/23/2936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June – 24 July 2026  |  Eight 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5513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spc="3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FACULTY MENTOR  Dr. Anketa Kumar</a:t>
            </a:r>
            <a:endParaRPr lang="en-US" sz="740" dirty="0"/>
          </a:p>
          <a:p>
            <a:pPr algn="l" indent="0" marL="0">
              <a:buNone/>
            </a:pPr>
            <a:r>
              <a:rPr lang="en-US" sz="740" spc="3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MENTOR  Ms. Sunaina Harjai, Founder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BRIEF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the whole object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eight-week immersion in a founder-led, craft-driven accessories house.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719072"/>
            <a:ext cx="3520440" cy="3566160"/>
          </a:xfrm>
          <a:prstGeom prst="rect">
            <a:avLst/>
          </a:prstGeom>
          <a:solidFill>
            <a:srgbClr val="751512"/>
          </a:solidFill>
          <a:ln w="12700">
            <a:solidFill>
              <a:srgbClr val="75151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391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spc="14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761488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classroom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to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864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80" kern="0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· production · commerce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34840" y="18836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34840" y="2258568"/>
            <a:ext cx="1783080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4871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Patience, accuracy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material respect.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36758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→ sample → finish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93992" y="18836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93992" y="2258568"/>
            <a:ext cx="1783080" cy="0"/>
          </a:xfrm>
          <a:prstGeom prst="line">
            <a:avLst/>
          </a:prstGeom>
          <a:noFill/>
          <a:ln w="16510">
            <a:solidFill>
              <a:srgbClr val="E56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24871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product moves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through many hands.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93992" y="36758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↔ sourcing ↔ QC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53144" y="18836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53144" y="2258568"/>
            <a:ext cx="1783080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24871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travels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7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through image and channel.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53144" y="36758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→ shoot → customer</a:t>
            </a:r>
            <a:endParaRPr lang="en-US" sz="850" dirty="0"/>
          </a:p>
        </p:txBody>
      </p:sp>
      <p:pic>
        <p:nvPicPr>
          <p:cNvPr id="21" name="Image 0" descr="/private/tmp/internship-pages/pag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334256"/>
            <a:ext cx="1783080" cy="12435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443984" y="48828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founder-led studio where aesthetic decisions are accountable to making.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HOUSE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Hats Off Accessories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craftsmanship, contemporary accessories and a direct-to-consumer rhythm.</a:t>
            </a:r>
            <a:endParaRPr lang="en-US" sz="950" dirty="0"/>
          </a:p>
        </p:txBody>
      </p:sp>
      <p:pic>
        <p:nvPicPr>
          <p:cNvPr id="5" name="Image 0" descr="/private/tmp/internship-pages/pag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2971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55648"/>
            <a:ext cx="2971800" cy="3657600"/>
          </a:xfrm>
          <a:prstGeom prst="rect">
            <a:avLst/>
          </a:prstGeom>
          <a:solidFill>
            <a:srgbClr val="FFFDF7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77640" y="17739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&amp; HISTORY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977640" y="21579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Sunaina Harjai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977640" y="267919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founder-led brand rooted in footwear manufacturing, expanded into handcrafted bags and accessories.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3703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BRAND PROMISE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977640" y="40507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Made with purpose.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last.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977640" y="5074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luxury  ·  heritage craft  ·  individuality  ·  colour  ·  durability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83880" y="1938528"/>
            <a:ext cx="1508760" cy="256032"/>
          </a:xfrm>
          <a:prstGeom prst="rect">
            <a:avLst/>
          </a:prstGeom>
          <a:solidFill>
            <a:srgbClr val="751512"/>
          </a:solidFill>
          <a:ln w="12700">
            <a:solidFill>
              <a:srgbClr val="75151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7032" y="196596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110" kern="0" dirty="0">
                <a:solidFill>
                  <a:srgbClr val="FFF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DELHI / NOIDA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9857232" y="1938528"/>
            <a:ext cx="1344168" cy="256032"/>
          </a:xfrm>
          <a:prstGeom prst="rect">
            <a:avLst/>
          </a:prstGeom>
          <a:solidFill>
            <a:srgbClr val="E56A58"/>
          </a:solidFill>
          <a:ln w="12700">
            <a:solidFill>
              <a:srgbClr val="E56A5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30384" y="196596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110" kern="0" dirty="0">
                <a:solidFill>
                  <a:srgbClr val="FFF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D2C / SHOPIFY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8183880" y="2359152"/>
            <a:ext cx="3017520" cy="256032"/>
          </a:xfrm>
          <a:prstGeom prst="rect">
            <a:avLst/>
          </a:prstGeom>
          <a:solidFill>
            <a:srgbClr val="D8B95B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2386584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110" kern="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COMMERCE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8183880" y="2907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hybrid infrastructure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83880" y="336499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Factory-linked making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In-house design &amp; merchandising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Domestic + Italian leather streams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digital selling + global shipping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MARKET POSITION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the object speaking to?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broad accessories universe, held together by a clear bridge between craft and everyday luxury.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703320" cy="4069080"/>
          </a:xfrm>
          <a:prstGeom prst="rect">
            <a:avLst/>
          </a:prstGeom>
          <a:solidFill>
            <a:srgbClr val="751512"/>
          </a:solidFill>
          <a:ln w="12700">
            <a:solidFill>
              <a:srgbClr val="75151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BUYER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" y="2478024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Urban,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digitally native,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occasion-aware.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59536" y="4343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first · global diaspora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₹1,899–₹6,999 bags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₹2,249–₹4,499 footwear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45152" y="1810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MULTI-SCENE WARDROBE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5152" y="2249424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38928" y="224942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WORKING WOMAN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38928" y="2514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totes · laptop bags · structure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38928" y="2871216"/>
            <a:ext cx="3657600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3026664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38928" y="3026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OCCASION SHOPPER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8928" y="3291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metallics · embellishment · colour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38928" y="3648456"/>
            <a:ext cx="3657600" cy="0"/>
          </a:xfrm>
          <a:prstGeom prst="line">
            <a:avLst/>
          </a:prstGeom>
          <a:noFill/>
          <a:ln w="16510">
            <a:solidFill>
              <a:srgbClr val="E56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803904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928" y="38039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BESPOKE BUYER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8928" y="4069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Italian leather · WhatsApp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38928" y="4425696"/>
            <a:ext cx="3657600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581144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8928" y="45811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MODERN PROFESSIONAL MAN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4846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footwear · executive bags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38928" y="5202936"/>
            <a:ext cx="3657600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pic>
        <p:nvPicPr>
          <p:cNvPr id="26" name="Image 0" descr="/private/tmp/internship-pages/pag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407408"/>
            <a:ext cx="2194560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MATERIAL CULTURE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is the first design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Texture, hardware and sourcing shape both the aesthetic and the commercial proposition.</a:t>
            </a:r>
            <a:endParaRPr lang="en-US" sz="950" dirty="0"/>
          </a:p>
        </p:txBody>
      </p:sp>
      <p:pic>
        <p:nvPicPr>
          <p:cNvPr id="5" name="Image 0" descr="/private/tmp/internship-pages/page-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19072"/>
            <a:ext cx="32004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719072"/>
            <a:ext cx="3200400" cy="4023360"/>
          </a:xfrm>
          <a:prstGeom prst="rect">
            <a:avLst/>
          </a:prstGeom>
          <a:solidFill>
            <a:srgbClr val="FFFDF7">
              <a:alpha val="80000"/>
            </a:srgbClr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51960" y="18105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09160" y="18105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FULL-GRAIN LEATHER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09160" y="20756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range · longevity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51960" y="25603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09160" y="2560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EMBOSSED / EXOTIC TEXTURE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09160" y="28254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 surfaces · hardware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51960" y="33101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09160" y="3310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METALLIC FINISH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35753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occasion-led shine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51960" y="40599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9160" y="4059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WOVEN / BRAIDED LEATHER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9160" y="43251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tactile language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51960" y="48097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4809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MANGO WOOD + TEXTILE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09160" y="5074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· warmth · handle detail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631936" y="1773936"/>
            <a:ext cx="2944368" cy="3977640"/>
          </a:xfrm>
          <a:prstGeom prst="rect">
            <a:avLst/>
          </a:prstGeom>
          <a:solidFill>
            <a:srgbClr val="F4D46A"/>
          </a:solidFill>
          <a:ln w="12700">
            <a:solidFill>
              <a:srgbClr val="F4D46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24544" y="20756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spc="14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24544" y="2852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Domestic leather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factory tie-ups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924544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Italian leather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made-to-order colourways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924544" y="50749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trims and hardware keep the small-batch model responsive.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THE PRODUCT UNIVERSE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vocabulary of objects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range moves from statement bags to daily companions, footwear and small leather goods.</a:t>
            </a:r>
            <a:endParaRPr lang="en-US" sz="950" dirty="0"/>
          </a:p>
        </p:txBody>
      </p:sp>
      <p:pic>
        <p:nvPicPr>
          <p:cNvPr id="5" name="Image 0" descr="/private/tmp/internship-pages/pag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55648"/>
            <a:ext cx="2926080" cy="2011680"/>
          </a:xfrm>
          <a:prstGeom prst="rect">
            <a:avLst/>
          </a:prstGeom>
        </p:spPr>
      </p:pic>
      <p:pic>
        <p:nvPicPr>
          <p:cNvPr id="6" name="Image 1" descr="/private/tmp/internship-pages/page-0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755648"/>
            <a:ext cx="2926080" cy="2011680"/>
          </a:xfrm>
          <a:prstGeom prst="rect">
            <a:avLst/>
          </a:prstGeom>
        </p:spPr>
      </p:pic>
      <p:pic>
        <p:nvPicPr>
          <p:cNvPr id="7" name="Image 2" descr="/private/tmp/internship-pages/page-0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55648"/>
            <a:ext cx="2926080" cy="2011680"/>
          </a:xfrm>
          <a:prstGeom prst="rect">
            <a:avLst/>
          </a:prstGeom>
        </p:spPr>
      </p:pic>
      <p:pic>
        <p:nvPicPr>
          <p:cNvPr id="8" name="Image 3" descr="/private/tmp/internship-pages/page-02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1755648"/>
            <a:ext cx="1920240" cy="20116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66928" y="4142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960120" y="4160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WOMEN’S BAGS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960120" y="44622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sling · tote · hobo · clutch</a:t>
            </a:r>
            <a:endParaRPr lang="en-US" sz="830" dirty="0"/>
          </a:p>
        </p:txBody>
      </p:sp>
      <p:sp>
        <p:nvSpPr>
          <p:cNvPr id="12" name="Text 6"/>
          <p:cNvSpPr/>
          <p:nvPr/>
        </p:nvSpPr>
        <p:spPr>
          <a:xfrm>
            <a:off x="3447288" y="4142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3840480" y="4160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WOMEN’S SHOES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840480" y="44622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 · ballerinas · slides</a:t>
            </a:r>
            <a:endParaRPr lang="en-US" sz="830" dirty="0"/>
          </a:p>
        </p:txBody>
      </p:sp>
      <p:sp>
        <p:nvSpPr>
          <p:cNvPr id="15" name="Text 9"/>
          <p:cNvSpPr/>
          <p:nvPr/>
        </p:nvSpPr>
        <p:spPr>
          <a:xfrm>
            <a:off x="6327648" y="4142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720840" y="4160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LEATHER GOODS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720840" y="44622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wallets · card holders</a:t>
            </a:r>
            <a:endParaRPr lang="en-US" sz="830" dirty="0"/>
          </a:p>
        </p:txBody>
      </p:sp>
      <p:sp>
        <p:nvSpPr>
          <p:cNvPr id="18" name="Text 12"/>
          <p:cNvSpPr/>
          <p:nvPr/>
        </p:nvSpPr>
        <p:spPr>
          <a:xfrm>
            <a:off x="9208008" y="41422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601200" y="41605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MEN’S ACCESSORIES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9601200" y="44622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sling pouches · executive bags</a:t>
            </a:r>
            <a:endParaRPr lang="en-US" sz="830" dirty="0"/>
          </a:p>
        </p:txBody>
      </p:sp>
      <p:sp>
        <p:nvSpPr>
          <p:cNvPr id="21" name="Text 15"/>
          <p:cNvSpPr/>
          <p:nvPr/>
        </p:nvSpPr>
        <p:spPr>
          <a:xfrm>
            <a:off x="585216" y="5276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language is not one silhouette; it is a repeatable attitude toward colour, surface and utility.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THE MAKING SYSTEM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idea to object to image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revealed design as coordination: every aesthetic decision carries a production consequence.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3504" y="1847088"/>
            <a:ext cx="3154680" cy="960120"/>
          </a:xfrm>
          <a:prstGeom prst="rect">
            <a:avLst/>
          </a:prstGeom>
          <a:solidFill>
            <a:srgbClr val="FFFDF7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933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43584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inspiration / audience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9624" y="2194560"/>
            <a:ext cx="228600" cy="256032"/>
          </a:xfrm>
          <a:prstGeom prst="chevron">
            <a:avLst/>
          </a:prstGeom>
          <a:solidFill>
            <a:srgbClr val="E56A58"/>
          </a:solidFill>
          <a:ln w="12700">
            <a:solidFill>
              <a:srgbClr val="E56A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847088"/>
            <a:ext cx="3154680" cy="960120"/>
          </a:xfrm>
          <a:prstGeom prst="rect">
            <a:avLst/>
          </a:prstGeom>
          <a:solidFill>
            <a:srgbClr val="FFFDF7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9933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46904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46904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/ silhouette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52944" y="2194560"/>
            <a:ext cx="228600" cy="256032"/>
          </a:xfrm>
          <a:prstGeom prst="chevron">
            <a:avLst/>
          </a:prstGeom>
          <a:solidFill>
            <a:srgbClr val="E56A58"/>
          </a:solidFill>
          <a:ln w="12700">
            <a:solidFill>
              <a:srgbClr val="E56A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1847088"/>
            <a:ext cx="3154680" cy="960120"/>
          </a:xfrm>
          <a:prstGeom prst="rect">
            <a:avLst/>
          </a:prstGeom>
          <a:solidFill>
            <a:srgbClr val="FFFDF7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19933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50224" y="2011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50224" y="2322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/ sourcing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" y="3291840"/>
            <a:ext cx="3154680" cy="960120"/>
          </a:xfrm>
          <a:prstGeom prst="rect">
            <a:avLst/>
          </a:prstGeom>
          <a:solidFill>
            <a:srgbClr val="FFFDF7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4381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3584" y="3456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43584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/ correction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9624" y="3639312"/>
            <a:ext cx="228600" cy="256032"/>
          </a:xfrm>
          <a:prstGeom prst="chevron">
            <a:avLst/>
          </a:prstGeom>
          <a:solidFill>
            <a:srgbClr val="E56A58"/>
          </a:solidFill>
          <a:ln w="12700">
            <a:solidFill>
              <a:srgbClr val="E56A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6824" y="3291840"/>
            <a:ext cx="3154680" cy="960120"/>
          </a:xfrm>
          <a:prstGeom prst="rect">
            <a:avLst/>
          </a:prstGeom>
          <a:solidFill>
            <a:srgbClr val="751512"/>
          </a:solidFill>
          <a:ln w="12700">
            <a:solidFill>
              <a:srgbClr val="75151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34381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46904" y="3456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46904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 / stitch / finish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52944" y="3639312"/>
            <a:ext cx="228600" cy="256032"/>
          </a:xfrm>
          <a:prstGeom prst="chevron">
            <a:avLst/>
          </a:prstGeom>
          <a:solidFill>
            <a:srgbClr val="E56A58"/>
          </a:solidFill>
          <a:ln w="12700">
            <a:solidFill>
              <a:srgbClr val="E56A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0144" y="3291840"/>
            <a:ext cx="3154680" cy="960120"/>
          </a:xfrm>
          <a:prstGeom prst="rect">
            <a:avLst/>
          </a:prstGeom>
          <a:solidFill>
            <a:srgbClr val="FFFDF7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34381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50224" y="3456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50224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 / merch / D2C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" y="5084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for 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541324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material choice is never purely aesthetic; it changes cost, timing, construction and the final image.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MY CONTRIBUTION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portfolio of applied practice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project strands connected research, visual thinking and production-ready communication.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1288" y="1810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8105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→ motif → repeat → final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61288" y="2304288"/>
            <a:ext cx="6656832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237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" y="25237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5237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· materials · trims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61288" y="3017520"/>
            <a:ext cx="6656832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369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3236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R&amp;D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2369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research · silhouettes · direction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61288" y="3730752"/>
            <a:ext cx="6656832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502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" y="3950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950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fabric, leather, hardware, local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61288" y="4443984"/>
            <a:ext cx="6656832" cy="0"/>
          </a:xfrm>
          <a:prstGeom prst="line">
            <a:avLst/>
          </a:prstGeom>
          <a:noFill/>
          <a:ln w="16510">
            <a:solidFill>
              <a:srgbClr val="D8B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634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6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46634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7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/ SET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46634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world for the object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61288" y="5157216"/>
            <a:ext cx="6656832" cy="0"/>
          </a:xfrm>
          <a:prstGeom prst="line">
            <a:avLst/>
          </a:prstGeom>
          <a:noFill/>
          <a:ln w="16510">
            <a:solidFill>
              <a:srgbClr val="E56A58"/>
            </a:solidFill>
            <a:prstDash val="solid"/>
          </a:ln>
        </p:spPr>
      </p:sp>
      <p:pic>
        <p:nvPicPr>
          <p:cNvPr id="25" name="Image 0" descr="/private/tmp/internship-pages/page-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773936"/>
            <a:ext cx="3337560" cy="2103120"/>
          </a:xfrm>
          <a:prstGeom prst="rect">
            <a:avLst/>
          </a:prstGeom>
        </p:spPr>
      </p:pic>
      <p:pic>
        <p:nvPicPr>
          <p:cNvPr id="26" name="Image 1" descr="/private/tmp/internship-pages/page-0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078224"/>
            <a:ext cx="3337560" cy="17373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183880" y="596188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becomes direction; direction becomes a system.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SELECTED OUTCOMES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Making the idea legible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learning was translation: from visual intuition to repeatable, shareable instructions.</a:t>
            </a:r>
            <a:endParaRPr lang="en-US" sz="950" dirty="0"/>
          </a:p>
        </p:txBody>
      </p:sp>
      <p:pic>
        <p:nvPicPr>
          <p:cNvPr id="5" name="Image 0" descr="/private/tmp/internship-pages/page-0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3154680" cy="2148840"/>
          </a:xfrm>
          <a:prstGeom prst="rect">
            <a:avLst/>
          </a:prstGeom>
        </p:spPr>
      </p:pic>
      <p:pic>
        <p:nvPicPr>
          <p:cNvPr id="6" name="Image 1" descr="/private/tmp/internship-pages/page-0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1700784"/>
            <a:ext cx="3154680" cy="2148840"/>
          </a:xfrm>
          <a:prstGeom prst="rect">
            <a:avLst/>
          </a:prstGeom>
        </p:spPr>
      </p:pic>
      <p:pic>
        <p:nvPicPr>
          <p:cNvPr id="7" name="Image 2" descr="/private/tmp/internship-pages/page-0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0784"/>
            <a:ext cx="4087368" cy="3657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4096512"/>
            <a:ext cx="1920240" cy="256032"/>
          </a:xfrm>
          <a:prstGeom prst="rect">
            <a:avLst/>
          </a:prstGeom>
          <a:solidFill>
            <a:srgbClr val="751512"/>
          </a:solidFill>
          <a:ln w="12700">
            <a:solidFill>
              <a:srgbClr val="751512">
                <a:alpha val="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13232" y="412394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110" kern="0" dirty="0">
                <a:solidFill>
                  <a:srgbClr val="FFF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01 / PROCESS</a:t>
            </a:r>
            <a:endParaRPr lang="en-US" sz="650" dirty="0"/>
          </a:p>
        </p:txBody>
      </p:sp>
      <p:sp>
        <p:nvSpPr>
          <p:cNvPr id="10" name="Shape 5"/>
          <p:cNvSpPr/>
          <p:nvPr/>
        </p:nvSpPr>
        <p:spPr>
          <a:xfrm>
            <a:off x="3968496" y="4096512"/>
            <a:ext cx="1874520" cy="256032"/>
          </a:xfrm>
          <a:prstGeom prst="rect">
            <a:avLst/>
          </a:prstGeom>
          <a:solidFill>
            <a:srgbClr val="E56A58"/>
          </a:solidFill>
          <a:ln w="12700">
            <a:solidFill>
              <a:srgbClr val="E56A58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041648" y="4123944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110" kern="0" dirty="0">
                <a:solidFill>
                  <a:srgbClr val="FFFD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01 / FINAL</a:t>
            </a:r>
            <a:endParaRPr lang="en-US" sz="650" dirty="0"/>
          </a:p>
        </p:txBody>
      </p:sp>
      <p:sp>
        <p:nvSpPr>
          <p:cNvPr id="12" name="Shape 7"/>
          <p:cNvSpPr/>
          <p:nvPr/>
        </p:nvSpPr>
        <p:spPr>
          <a:xfrm>
            <a:off x="7388352" y="5532120"/>
            <a:ext cx="2743200" cy="256032"/>
          </a:xfrm>
          <a:prstGeom prst="rect">
            <a:avLst/>
          </a:prstGeom>
          <a:solidFill>
            <a:srgbClr val="D8B95B"/>
          </a:solidFill>
          <a:ln w="12700">
            <a:solidFill>
              <a:srgbClr val="D8B95B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461504" y="55595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110" kern="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PACK / DRAWSTRING BAG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640080" y="496519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Exploration is not the opposite of precision. It is how precision is found.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55046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finished print carries a process; a technical pack carries a decision.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75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REFLECTION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take forward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internship in making became an education in judgement.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85216" y="1755648"/>
            <a:ext cx="4800600" cy="3913632"/>
          </a:xfrm>
          <a:prstGeom prst="rect">
            <a:avLst/>
          </a:prstGeom>
          <a:solidFill>
            <a:srgbClr val="751512"/>
          </a:solidFill>
          <a:ln w="12700">
            <a:solidFill>
              <a:srgbClr val="75151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75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8B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6112" y="2542032"/>
            <a:ext cx="34747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development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Print-making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selection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Costing &amp; sourcing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photography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49560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4D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concept to prototype, production and finishing.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6752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16752" y="23500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Craftsmanship is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7515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coordination made visible.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016752" y="3685032"/>
            <a:ext cx="3840480" cy="0"/>
          </a:xfrm>
          <a:prstGeom prst="line">
            <a:avLst/>
          </a:prstGeom>
          <a:noFill/>
          <a:ln w="16510">
            <a:solidFill>
              <a:srgbClr val="E56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40690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5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sharpened my communication, adaptability and respect for the many hands behind a finished object.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16752" y="5358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31D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16752" y="57150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Aditi Arya  ·  Leather Design  ·  NIFT Raebareli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C151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National Institute of Fashion Technology, Raebareli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Internship | Hats Off Accessories</dc:title>
  <dc:subject>Industry Internship Jury Presentation</dc:subject>
  <dc:creator>Aditi Arya</dc:creator>
  <cp:lastModifiedBy>Aditi Arya</cp:lastModifiedBy>
  <cp:revision>1</cp:revision>
  <dcterms:created xsi:type="dcterms:W3CDTF">2026-08-20T11:49:29Z</dcterms:created>
  <dcterms:modified xsi:type="dcterms:W3CDTF">2026-08-20T11:49:29Z</dcterms:modified>
</cp:coreProperties>
</file>